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1/1-jupyter-labs-spacex-data-collection-api.ipynb" TargetMode="External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1/2-jupyter-labs-webscraping.ipynb" TargetMode="External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1/3-labs-jupyter-spacex-Data%20wrangling.ipynb" TargetMode="External"/><Relationship Id="rId4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1/3-labs-jupyter-spacex-Data%20wrangling.ipynb" TargetMode="External"/><Relationship Id="rId4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2/4-jupyter-labs-eda-sql-coursera_sqllite.ipynb" TargetMode="External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3/5-lab-jupyter-launch-site-location-v2.ipynb" TargetMode="External"/><Relationship Id="rId4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3/spacex_dash_app.py" TargetMode="External"/><Relationship Id="rId4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kgeckin/IBM_Applied_Data_Science_Capstone/blob/main/Module4/6-SpaceX-Machine-Learning-Prediction-Part-5-v1.ipynb" TargetMode="External"/><Relationship Id="rId4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4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8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0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1.png"/><Relationship Id="rId4" Type="http://schemas.openxmlformats.org/officeDocument/2006/relationships/hyperlink" Target="https://github.com/kgeckin/IBM_Applied_Data_Science_Capstone/blob/main/Module2/4-jupyter-labs-eda-sql-coursera_sqllite.ipynb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64008" rIns="91440" rtlCol="0" anchor="t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Kardelen Geçkin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November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Data collected from SpaceX API, public launch tables and course datasets.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Analysis used Python, SQL, Folium, Plotly Dash and four classifiers.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All four models scored 83.3% on a small 18-record test set.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64008" rIns="9144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Falcon 9 first-stage recovery is a key enabler of reusable launch operations.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Research question: Can historical launch attributes predict landing success?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Investigate launch site, orbit, payload, flight number and booster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64008" rIns="91440" anchor="t" wrap="square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spcAft>
                <a:spcPts val="1200"/>
              </a:spcAft>
              <a:buNone/>
              <a:defRPr sz="1900">
                <a:solidFill>
                  <a:srgbClr val="303741"/>
                </a:solidFill>
              </a:defRPr>
            </a:pPr>
            <a:r>
              <a:t>Data collection: SpaceX API and Wikipedia tables.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Preparation: missing values, landing outcomes and binary Class label.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Exploration: Python charts and SQL queries.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Interactivity: Folium location maps and Dash filters.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Prediction: tuned Logistic Regression, SVM, Decision Tree and KNN.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 wrap="square" tIns="64008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2000">
                <a:solidFill>
                  <a:srgbClr val="303741"/>
                </a:solidFill>
              </a:defRPr>
            </a:pPr>
            <a:r>
              <a:t>SpaceX REST endpoints and historical launch tables.</a:t>
            </a:r>
          </a:p>
          <a:p>
            <a:pPr>
              <a:spcAft>
                <a:spcPts val="1200"/>
              </a:spcAft>
              <a:defRPr sz="2000">
                <a:solidFill>
                  <a:srgbClr val="303741"/>
                </a:solidFill>
              </a:defRPr>
            </a:pPr>
            <a:r>
              <a:t>IBM coursework CSV files for SQL, mapping and dashboard exercises.</a:t>
            </a:r>
          </a:p>
          <a:p>
            <a:pPr>
              <a:spcAft>
                <a:spcPts val="1200"/>
              </a:spcAft>
              <a:defRPr sz="2000">
                <a:solidFill>
                  <a:srgbClr val="303741"/>
                </a:solidFill>
              </a:defRPr>
            </a:pPr>
            <a:r>
              <a:t>The notebooks use related but not always identical datasets.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64008" rIns="91440" rtlCol="0" anchor="t" wrap="square">
            <a:normAutofit/>
          </a:bodyPr>
          <a:lstStyle/>
          <a:p>
            <a:pPr marL="0" indent="0">
              <a:spcAft>
                <a:spcPts val="900"/>
              </a:spcAft>
              <a:buNone/>
              <a:defRPr sz="1400">
                <a:solidFill>
                  <a:srgbClr val="303741"/>
                </a:solidFill>
              </a:defRPr>
            </a:pPr>
            <a:endParaRPr lang="en-US" sz="2200" dirty="0">
              <a:solidFill>
                <a:srgbClr val="1C7DDB"/>
              </a:solidFill>
              <a:latin typeface="Abad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3886200" cy="1280160"/>
          </a:xfrm>
          <a:prstGeom prst="rect">
            <a:avLst/>
          </a:prstGeom>
        </p:spPr>
        <p:txBody>
          <a:bodyPr vert="horz" lIns="91440" tIns="64008" rIns="91440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REST requests return launch records as JSON.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Resolve rocket, payload and launchpad attributes.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Normalize fields into Pandas tables.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929384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SpaceX REST API</a:t>
            </a:r>
          </a:p>
        </p:txBody>
      </p:sp>
      <p:sp>
        <p:nvSpPr>
          <p:cNvPr id="8" name="Down Arrow 7"/>
          <p:cNvSpPr/>
          <p:nvPr/>
        </p:nvSpPr>
        <p:spPr>
          <a:xfrm>
            <a:off x="8517636" y="2779775"/>
            <a:ext cx="164592" cy="164592"/>
          </a:xfrm>
          <a:prstGeom prst="downArrow">
            <a:avLst/>
          </a:prstGeom>
          <a:solidFill>
            <a:srgbClr val="11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2962656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JSON launch + rocket fields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517636" y="3813047"/>
            <a:ext cx="164592" cy="164592"/>
          </a:xfrm>
          <a:prstGeom prst="downArrow">
            <a:avLst/>
          </a:prstGeom>
          <a:solidFill>
            <a:srgbClr val="11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3995927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Pandas normalization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17636" y="4846319"/>
            <a:ext cx="164592" cy="164592"/>
          </a:xfrm>
          <a:prstGeom prst="downArrow">
            <a:avLst/>
          </a:prstGeom>
          <a:solidFill>
            <a:srgbClr val="11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3912" y="5029200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Tabular dataset</a:t>
            </a:r>
          </a:p>
        </p:txBody>
      </p:sp>
      <p:pic>
        <p:nvPicPr>
          <p:cNvPr id="14" name="Picture 13" descr="slide8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45536"/>
            <a:ext cx="4103649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5340096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GitHub notebook link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886200" cy="1280160"/>
          </a:xfrm>
          <a:prstGeom prst="rect">
            <a:avLst/>
          </a:prstGeom>
        </p:spPr>
        <p:txBody>
          <a:bodyPr lIns="91440" tIns="64008" rIns="91440" anchor="t" wrap="square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Read Wikipedia Falcon 9 tables.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Parse rows with BeautifulSoup.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Clean headers and export structured CSV.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64008" rIns="91440" rtlCol="0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rgbClr val="303741"/>
                </a:solidFill>
              </a:defRPr>
            </a:pPr>
            <a:endParaRPr lang="en-US" sz="2200" dirty="0">
              <a:solidFill>
                <a:srgbClr val="1C7DDB"/>
              </a:solidFill>
              <a:latin typeface="Abad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929384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Public launch tables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517636" y="2779775"/>
            <a:ext cx="164592" cy="164592"/>
          </a:xfrm>
          <a:prstGeom prst="downArrow">
            <a:avLst/>
          </a:prstGeom>
          <a:solidFill>
            <a:srgbClr val="11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53912" y="2962656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HTML / BeautifulSoup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517636" y="3813047"/>
            <a:ext cx="164592" cy="164592"/>
          </a:xfrm>
          <a:prstGeom prst="downArrow">
            <a:avLst/>
          </a:prstGeom>
          <a:solidFill>
            <a:srgbClr val="11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912" y="3995927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Clean row values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517636" y="4846319"/>
            <a:ext cx="164592" cy="164592"/>
          </a:xfrm>
          <a:prstGeom prst="downArrow">
            <a:avLst/>
          </a:prstGeom>
          <a:solidFill>
            <a:srgbClr val="11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53912" y="5029200"/>
            <a:ext cx="4892040" cy="832103"/>
          </a:xfrm>
          <a:prstGeom prst="roundRect">
            <a:avLst/>
          </a:prstGeom>
          <a:solidFill>
            <a:srgbClr val="EDF3FC"/>
          </a:solidFill>
          <a:ln w="12700">
            <a:solidFill>
              <a:srgbClr val="115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303741"/>
                </a:solidFill>
              </a:defRPr>
            </a:pPr>
            <a:r>
              <a:t>CSV output</a:t>
            </a:r>
          </a:p>
        </p:txBody>
      </p:sp>
      <p:pic>
        <p:nvPicPr>
          <p:cNvPr id="19" name="Picture 18" descr="slide9_scr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45536"/>
            <a:ext cx="4314092" cy="2103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5340096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GitHub notebook link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160520" cy="3886200"/>
          </a:xfrm>
          <a:prstGeom prst="rect">
            <a:avLst/>
          </a:prstGeom>
        </p:spPr>
        <p:txBody>
          <a:bodyPr wrap="square" tIns="64008"/>
          <a:lstStyle/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Extract the first-stage landing outcome.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Map outcomes to binary Class: successful landing = 1; otherwise = 0.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Handle missing, inconsistent and categorical fields.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  <p:pic>
        <p:nvPicPr>
          <p:cNvPr id="9" name="Picture 8" descr="slide10_wr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72768"/>
            <a:ext cx="5577840" cy="27191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160520" cy="3886200"/>
          </a:xfrm>
          <a:prstGeom prst="rect">
            <a:avLst/>
          </a:prstGeom>
        </p:spPr>
        <p:txBody>
          <a:bodyPr lIns="91440" tIns="64008" rIns="91440" anchor="t" wrap="square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Compare launch site, payload mass, orbit and flight number.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Analyze yearly landing rates and category counts.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Plots reveal correlations, not causes.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  <p:pic>
        <p:nvPicPr>
          <p:cNvPr id="6" name="Picture 5" descr="slide11_eda_v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72768"/>
            <a:ext cx="5577840" cy="27191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160520" cy="3886200"/>
          </a:xfrm>
          <a:prstGeom prst="rect">
            <a:avLst/>
          </a:prstGeom>
        </p:spPr>
        <p:txBody>
          <a:bodyPr lIns="91440" tIns="64008" rIns="91440" anchor="t" wrap="square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DISTINCT launch sites and CCAFS record filters.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SUM and AVG payload calculations, earliest ground landing.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Drone ship outcomes, maximum payload and date-ranked results.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slide12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72768"/>
            <a:ext cx="5577840" cy="25797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16052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Map launch sites using latitude and longitude.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Color outcomes and add site markers.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Inspect approximate distance to local transport and coastal features.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slide13_foli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72768"/>
            <a:ext cx="5577840" cy="24403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160520" cy="3886200"/>
          </a:xfrm>
          <a:prstGeom prst="rect">
            <a:avLst/>
          </a:prstGeom>
        </p:spPr>
        <p:txBody>
          <a:bodyPr vert="horz" lIns="91440" tIns="64008" rIns="91440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Launch-site dropdown changes success/failure pie chart.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Payload range slider filters a scatter plot.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Color and hover data help compare outcomes and booster versions.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  <p:pic>
        <p:nvPicPr>
          <p:cNvPr id="6" name="Picture 5" descr="slide14_d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72768"/>
            <a:ext cx="5577840" cy="27191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16052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Encode predictors and split into training and held-out test sets.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Tune Logistic Regression, SVM, Decision Tree and KNN by cross-validation.</a:t>
            </a:r>
          </a:p>
          <a:p>
            <a:pPr>
              <a:spcAft>
                <a:spcPts val="800"/>
              </a:spcAft>
              <a:defRPr sz="1700">
                <a:solidFill>
                  <a:srgbClr val="2E3640"/>
                </a:solidFill>
              </a:defRPr>
            </a:pPr>
            <a:r>
              <a:t>Compare both test accuracy and confusion matrix errors.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pic>
        <p:nvPicPr>
          <p:cNvPr id="6" name="Picture 5" descr="slide15_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72768"/>
            <a:ext cx="5577840" cy="27191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3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64008" rIns="9144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EDA: launch history, orbit and payload patterns.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Interactive analysis: geographic launch sites and dashboard filters.</a:t>
            </a:r>
          </a:p>
          <a:p>
            <a:pPr>
              <a:spcAft>
                <a:spcPts val="1200"/>
              </a:spcAft>
              <a:defRPr sz="1900">
                <a:solidFill>
                  <a:srgbClr val="303741"/>
                </a:solidFill>
              </a:defRPr>
            </a:pPr>
            <a:r>
              <a:t>Predictive modeling: four classifiers on the same holdout sample.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886200" cy="381158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Later flights contain more successful landings. Site histories differ.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Visualization from course-provided 90-row modeling dataset.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flight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55187"/>
            <a:ext cx="6528816" cy="30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886200" cy="381158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Payload masses overlap between successful and unsuccessful landings.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Visualization from course-provided 90-row modeling dataset.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  <p:pic>
        <p:nvPicPr>
          <p:cNvPr id="6" name="Picture 5" descr="payload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55187"/>
            <a:ext cx="6528816" cy="30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886200" cy="381158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Landing success varies by orbit category. Small group counts matter.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Visualization from course-provided 90-row modeling dataset.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orbi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55187"/>
            <a:ext cx="6528816" cy="30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886200" cy="381158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Orbit profiles change across the historical launch sequence.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Visualization from course-provided 90-row modeling dataset.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flight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55187"/>
            <a:ext cx="6528816" cy="30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886200" cy="381158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Payload ranges differ by mission orbit; outcomes still overlap.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Visualization from course-provided 90-row modeling dataset.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payload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55187"/>
            <a:ext cx="6528816" cy="30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886200" cy="381158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The sample shows an improving landing trend across launch years.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Visualization from course-provided 90-row modeling dataset.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  <p:pic>
        <p:nvPicPr>
          <p:cNvPr id="6" name="Picture 5" descr="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55187"/>
            <a:ext cx="6528816" cy="30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Unique launch-site strings in the SQL coursework data: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CCAFS LC-40    |    VAFB SLC-4E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KSC LC-39A    |    CCAFS SLC-40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Distinct strings may include naming variants.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pic>
        <p:nvPicPr>
          <p:cNvPr id="6" name="Picture 5" descr="slide24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4701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Query: Launch_Site LIKE 'CCA%' LIMIT 5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2010-06-04    CCAFS LC-40    F9 v1.0 B0003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2010-12-08    CCAFS LC-40    F9 v1.0 B0004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2012-05-22    CCAFS LC-40    F9 v1.0 B0005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2012-10-08    CCAFS LC-40    F9 v1.0 B0006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2013-03-01    CCAFS LC-40    F9 v1.0 B0007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pic>
        <p:nvPicPr>
          <p:cNvPr id="6" name="Picture 5" descr="slide25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609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48,213 kg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Total payload for rows with customer matching NASA (CRS).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SQL: SUM(Payload_Mass__kg_) WHERE Customer LIKE '%NASA (CRS)%'.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Source: recorded course SQL notebook output.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pic>
        <p:nvPicPr>
          <p:cNvPr id="6" name="Picture 5" descr="slide26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051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2,928.4 kg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Notebook output for AVG(Payload_Mass__kg_) using Booster_Version = 'F9 v1.1'.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This is the normalized SQL notebook result; raw CSV labels can differ.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pic>
        <p:nvPicPr>
          <p:cNvPr id="6" name="Picture 5" descr="slide27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051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22 December 2015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Earliest successful ground pad landing in the SQL records.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Query: MIN(Date) where Landing_Outcome = 'Success (ground pad)'.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pic>
        <p:nvPicPr>
          <p:cNvPr id="6" name="Picture 5" descr="slide28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051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Successful drone ship outcomes with payload strictly between 4,000 and 6,000 kg: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F9 FT B1022   |   4,696 kg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F9 FT B1026   |   4,600 kg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F9 FT B1021.2   |   5,300 kg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F9 FT B1031.2   |   5,200 kg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  <p:pic>
        <p:nvPicPr>
          <p:cNvPr id="9" name="Picture 8" descr="slide29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4701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Landing outcomes are not binary in the historic SQL table.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Examples: Success, Success (drone ship), Failure (drone ship),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Success (ground pad), No attempt and Controlled (ocean).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The classifier later uses a separate binary landing label.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  <p:pic>
        <p:nvPicPr>
          <p:cNvPr id="6" name="Picture 5" descr="slide30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4701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Maximum payload in the saved SQL source: 15,600 kg.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Examples of tied booster records: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F9 B5 B1048.4  |  F9 B5 B1049.4  |  F9 B5 B1051.3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F9 B5 B1056.4  |  F9 B5 B1048.5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SQL returns additional boosters tied at this maximum.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  <p:pic>
        <p:nvPicPr>
          <p:cNvPr id="6" name="Picture 5" descr="slide31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330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2015 failed drone ship landings in the notebook: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January  |  F9 v1.1 B1012  |  CCAFS LC-40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April     |  F9 v1.1 B1015  |  CCAFS LC-40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Two matching records.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pic>
        <p:nvPicPr>
          <p:cNvPr id="6" name="Picture 5" descr="slide32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300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1627632"/>
            <a:ext cx="4297680" cy="3886200"/>
          </a:xfrm>
          <a:prstGeom prst="rect">
            <a:avLst/>
          </a:prstGeom>
        </p:spPr>
        <p:txBody>
          <a:bodyPr lIns="91440" tIns="64008" rIns="91440" anchor="t" wrap="square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No attempt: 10       |  Success (drone ship): 5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Failure (drone ship): 5   |  Success (ground pad): 3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Controlled (ocean): 3   |  Uncontrolled (ocean): 2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Failure (parachute): 2   |  Precluded (drone ship): 1</a:t>
            </a:r>
          </a:p>
          <a:p>
            <a:pPr>
              <a:spcAft>
                <a:spcPts val="800"/>
              </a:spcAft>
              <a:defRPr sz="1600">
                <a:solidFill>
                  <a:srgbClr val="2E3640"/>
                </a:solidFill>
              </a:defRPr>
            </a:pPr>
            <a:r>
              <a:t>Date filter: 04 Jun 2010 through 20 Mar 2017.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  <p:pic>
        <p:nvPicPr>
          <p:cNvPr id="6" name="Picture 5" descr="slide33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72768"/>
            <a:ext cx="5577840" cy="2609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5358384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1252BF"/>
                </a:solidFill>
                <a:hlinkClick r:id="rId4"/>
              </a:rPr>
              <a:t>Open the source notebook / script on GitHub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3931920" cy="379476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Saved geospatial coordinates show launch-site locations.</a:t>
            </a: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Chart reconstructed from lab CSV, not a live Folium screenshot.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Locations</a:t>
            </a:r>
          </a:p>
        </p:txBody>
      </p:sp>
      <p:pic>
        <p:nvPicPr>
          <p:cNvPr id="6" name="Picture 5" descr="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19" y="2219505"/>
            <a:ext cx="6583680" cy="307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3931920" cy="379476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Success and failure outcomes are color-coded by site.</a:t>
            </a: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Reconstructed plot from the saved geospatial dataset.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Landing Outcomes by Site</a:t>
            </a:r>
          </a:p>
        </p:txBody>
      </p:sp>
      <p:pic>
        <p:nvPicPr>
          <p:cNvPr id="9" name="Picture 8" descr="geo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19" y="2219505"/>
            <a:ext cx="6583680" cy="307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3931920" cy="379476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Illustrative coast, railway and road proximity measurements.</a:t>
            </a: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Approximate distances, not surveyed geographic distances.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Proximity</a:t>
            </a:r>
          </a:p>
        </p:txBody>
      </p:sp>
      <p:pic>
        <p:nvPicPr>
          <p:cNvPr id="9" name="Picture 8" descr="pr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19" y="2219505"/>
            <a:ext cx="6583680" cy="307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3794760" cy="384048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Successful landings are grouped by launch site.</a:t>
            </a: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Slices show share of successes, not each site success rate.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Landing Success Count by Site</a:t>
            </a:r>
          </a:p>
        </p:txBody>
      </p:sp>
      <p:pic>
        <p:nvPicPr>
          <p:cNvPr id="9" name="Picture 8" descr="dash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54591"/>
            <a:ext cx="6492240" cy="303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3794760" cy="384048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Per-site ratio: successful landings / total attempts.</a:t>
            </a: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Reconstructed from 56-record Dash dataset.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Highest Site Success Ratio</a:t>
            </a:r>
          </a:p>
        </p:txBody>
      </p:sp>
      <p:pic>
        <p:nvPicPr>
          <p:cNvPr id="9" name="Picture 8" descr="dash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54591"/>
            <a:ext cx="6492240" cy="303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3794760" cy="3840480"/>
          </a:xfrm>
          <a:prstGeom prst="rect">
            <a:avLst/>
          </a:prstGeom>
        </p:spPr>
        <p:txBody>
          <a:bodyPr lIns="91440" tIns="64008" rIns="9144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Scatter plot separates success vs. failure.</a:t>
            </a: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Original app provides site and payload-range filters.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and Launch Outcome</a:t>
            </a:r>
          </a:p>
        </p:txBody>
      </p:sp>
      <p:pic>
        <p:nvPicPr>
          <p:cNvPr id="13" name="Picture 12" descr="dash_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54591"/>
            <a:ext cx="6492240" cy="303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4892040" cy="3811588"/>
          </a:xfrm>
          <a:prstGeom prst="rect">
            <a:avLst/>
          </a:prstGeom>
        </p:spPr>
        <p:txBody>
          <a:bodyPr vert="horz" lIns="91440" tIns="64008" rIns="91440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Test split: 18 launch records.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Logistic Regression, SVM, Decision Tree and KNN: 83.3% accuracy.</a:t>
            </a:r>
          </a:p>
          <a:p>
            <a:pPr>
              <a:spcAft>
                <a:spcPts val="900"/>
              </a:spcAft>
              <a:defRPr sz="1700">
                <a:solidFill>
                  <a:srgbClr val="303741"/>
                </a:solidFill>
              </a:defRPr>
            </a:pPr>
            <a:r>
              <a:t>Decision Tree leads cross-validation, but tied on held-out data.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525401"/>
            <a:ext cx="5294376" cy="24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4114800" cy="381158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Decision Tree confusion matrix from notebook: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TN = 3    FP = 3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FN = 0    TP = 12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Accuracy = 15 / 18 = 83.3%.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Positive recall = 100%; specificity = 50%.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344542"/>
            <a:ext cx="6400800" cy="299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Historical landing success improves with flight sequence in these records.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Landing outcome also varies by orbit, mission and launch site.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All four models tie on a small 18-sample test set.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Interpret accuracy with cross-validation and confusion matrix.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This educational analysis is not a live launch-risk model.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 wrap="square" tIns="64008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Source notebooks and reproducibility: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Module 1: SpaceX REST API, web scraping and data wrangling.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Module 2: SQL data exploration.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Module 3: Folium mapping and Plotly Dash dashboard.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Module 4: model tuning and confusion matrix.</a:t>
            </a:r>
          </a:p>
          <a:p>
            <a:pPr>
              <a:spcAft>
                <a:spcPts val="1200"/>
              </a:spcAft>
              <a:defRPr sz="1800">
                <a:solidFill>
                  <a:srgbClr val="303741"/>
                </a:solidFill>
              </a:defRPr>
            </a:pPr>
            <a:r>
              <a:t>GitHub: github.com/kgeckin/IBM_Applied_Data_Science_Capstone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